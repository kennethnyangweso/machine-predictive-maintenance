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6/3/2025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6/3/2025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6/3/2025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6/3/2025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6/3/2025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6/3/2025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6/3/2025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79C5A-87C7-8D1B-8E19-D5C74BD537E0}"/>
              </a:ext>
            </a:extLst>
          </p:cNvPr>
          <p:cNvSpPr>
            <a:spLocks noGrp="1"/>
          </p:cNvSpPr>
          <p:nvPr>
            <p:ph type="ctrTitle"/>
          </p:nvPr>
        </p:nvSpPr>
        <p:spPr/>
        <p:txBody>
          <a:bodyPr>
            <a:normAutofit fontScale="90000"/>
          </a:bodyPr>
          <a:lstStyle/>
          <a:p>
            <a:r>
              <a:rPr lang="en-US" b="1" dirty="0"/>
              <a:t>Predictive maintenance for machines</a:t>
            </a:r>
          </a:p>
        </p:txBody>
      </p:sp>
      <p:sp>
        <p:nvSpPr>
          <p:cNvPr id="3" name="Subtitle 2">
            <a:extLst>
              <a:ext uri="{FF2B5EF4-FFF2-40B4-BE49-F238E27FC236}">
                <a16:creationId xmlns:a16="http://schemas.microsoft.com/office/drawing/2014/main" id="{17E89276-B735-B871-EF19-A88866C1493C}"/>
              </a:ext>
            </a:extLst>
          </p:cNvPr>
          <p:cNvSpPr>
            <a:spLocks noGrp="1"/>
          </p:cNvSpPr>
          <p:nvPr>
            <p:ph type="subTitle" idx="1"/>
          </p:nvPr>
        </p:nvSpPr>
        <p:spPr/>
        <p:txBody>
          <a:bodyPr/>
          <a:lstStyle/>
          <a:p>
            <a:r>
              <a:rPr lang="en-US" b="1" dirty="0"/>
              <a:t>A machine Learning approach to predict machine failure</a:t>
            </a:r>
          </a:p>
          <a:p>
            <a:endParaRPr lang="en-US" dirty="0"/>
          </a:p>
        </p:txBody>
      </p:sp>
    </p:spTree>
    <p:extLst>
      <p:ext uri="{BB962C8B-B14F-4D97-AF65-F5344CB8AC3E}">
        <p14:creationId xmlns:p14="http://schemas.microsoft.com/office/powerpoint/2010/main" val="3613353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BDE9E-A10E-1EA6-207B-5C07975456E2}"/>
              </a:ext>
            </a:extLst>
          </p:cNvPr>
          <p:cNvSpPr>
            <a:spLocks noGrp="1"/>
          </p:cNvSpPr>
          <p:nvPr>
            <p:ph type="title"/>
          </p:nvPr>
        </p:nvSpPr>
        <p:spPr/>
        <p:txBody>
          <a:bodyPr/>
          <a:lstStyle/>
          <a:p>
            <a:r>
              <a:rPr lang="en-US" b="1" dirty="0"/>
              <a:t>Business Understanding</a:t>
            </a:r>
          </a:p>
        </p:txBody>
      </p:sp>
      <p:sp>
        <p:nvSpPr>
          <p:cNvPr id="3" name="Content Placeholder 2">
            <a:extLst>
              <a:ext uri="{FF2B5EF4-FFF2-40B4-BE49-F238E27FC236}">
                <a16:creationId xmlns:a16="http://schemas.microsoft.com/office/drawing/2014/main" id="{F4DC8292-0322-A63D-C172-D457566E84F5}"/>
              </a:ext>
            </a:extLst>
          </p:cNvPr>
          <p:cNvSpPr>
            <a:spLocks noGrp="1"/>
          </p:cNvSpPr>
          <p:nvPr>
            <p:ph idx="1"/>
          </p:nvPr>
        </p:nvSpPr>
        <p:spPr/>
        <p:txBody>
          <a:bodyPr/>
          <a:lstStyle/>
          <a:p>
            <a:pPr marL="0" indent="0">
              <a:buNone/>
            </a:pPr>
            <a:r>
              <a:rPr lang="en-US" dirty="0"/>
              <a:t>Manufacturing industries rely heavily on equipment that must operate efficiently and continuously to meet production targets. Unplanned machine failures result in costly downtime, repair expenses, and lost productivity. Traditional maintenance strategies—either reactive (fix after failure) or preventive (scheduled maintenance)—often lead to inefficiencies, either by acting too late or too early.</a:t>
            </a:r>
          </a:p>
        </p:txBody>
      </p:sp>
    </p:spTree>
    <p:extLst>
      <p:ext uri="{BB962C8B-B14F-4D97-AF65-F5344CB8AC3E}">
        <p14:creationId xmlns:p14="http://schemas.microsoft.com/office/powerpoint/2010/main" val="4049462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F877F7-D8CE-28A3-996A-85D07F0FC79F}"/>
              </a:ext>
            </a:extLst>
          </p:cNvPr>
          <p:cNvSpPr>
            <a:spLocks noGrp="1"/>
          </p:cNvSpPr>
          <p:nvPr>
            <p:ph type="title"/>
          </p:nvPr>
        </p:nvSpPr>
        <p:spPr/>
        <p:txBody>
          <a:bodyPr/>
          <a:lstStyle/>
          <a:p>
            <a:r>
              <a:rPr lang="en-US" b="1" dirty="0"/>
              <a:t>GOALS</a:t>
            </a:r>
          </a:p>
        </p:txBody>
      </p:sp>
      <p:sp>
        <p:nvSpPr>
          <p:cNvPr id="5" name="Content Placeholder 4">
            <a:extLst>
              <a:ext uri="{FF2B5EF4-FFF2-40B4-BE49-F238E27FC236}">
                <a16:creationId xmlns:a16="http://schemas.microsoft.com/office/drawing/2014/main" id="{9526A47A-2C9F-BEDE-51B8-A65C4B7EF16C}"/>
              </a:ext>
            </a:extLst>
          </p:cNvPr>
          <p:cNvSpPr>
            <a:spLocks noGrp="1"/>
          </p:cNvSpPr>
          <p:nvPr>
            <p:ph idx="1"/>
          </p:nvPr>
        </p:nvSpPr>
        <p:spPr/>
        <p:txBody>
          <a:bodyPr/>
          <a:lstStyle/>
          <a:p>
            <a:r>
              <a:rPr lang="en-US" dirty="0"/>
              <a:t>Develop a binary classification model to predict machine failure ( No Failure OR Failure).</a:t>
            </a:r>
          </a:p>
          <a:p>
            <a:r>
              <a:rPr lang="en-US" dirty="0"/>
              <a:t>Perform Exploratory Data Analysis (EDA) to uncover key drivers of failure.</a:t>
            </a:r>
          </a:p>
          <a:p>
            <a:r>
              <a:rPr lang="en-US" dirty="0"/>
              <a:t>Rank the importance of sensor features contributing to failure.</a:t>
            </a:r>
          </a:p>
          <a:p>
            <a:r>
              <a:rPr lang="en-US" dirty="0"/>
              <a:t>Build a real-time or batch scoring system for predictive alerts.</a:t>
            </a:r>
          </a:p>
          <a:p>
            <a:endParaRPr lang="en-US" dirty="0"/>
          </a:p>
        </p:txBody>
      </p:sp>
    </p:spTree>
    <p:extLst>
      <p:ext uri="{BB962C8B-B14F-4D97-AF65-F5344CB8AC3E}">
        <p14:creationId xmlns:p14="http://schemas.microsoft.com/office/powerpoint/2010/main" val="1547248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07490-D934-67AF-24C9-F39EAD8C9B6B}"/>
              </a:ext>
            </a:extLst>
          </p:cNvPr>
          <p:cNvSpPr>
            <a:spLocks noGrp="1"/>
          </p:cNvSpPr>
          <p:nvPr>
            <p:ph type="title"/>
          </p:nvPr>
        </p:nvSpPr>
        <p:spPr/>
        <p:txBody>
          <a:bodyPr/>
          <a:lstStyle/>
          <a:p>
            <a:r>
              <a:rPr lang="en-US" b="1" dirty="0"/>
              <a:t>WHY IT MATTERS</a:t>
            </a:r>
          </a:p>
        </p:txBody>
      </p:sp>
      <p:sp>
        <p:nvSpPr>
          <p:cNvPr id="3" name="Content Placeholder 2">
            <a:extLst>
              <a:ext uri="{FF2B5EF4-FFF2-40B4-BE49-F238E27FC236}">
                <a16:creationId xmlns:a16="http://schemas.microsoft.com/office/drawing/2014/main" id="{0F78B09F-C738-2E8A-AAC2-DFA601808465}"/>
              </a:ext>
            </a:extLst>
          </p:cNvPr>
          <p:cNvSpPr>
            <a:spLocks noGrp="1"/>
          </p:cNvSpPr>
          <p:nvPr>
            <p:ph idx="1"/>
          </p:nvPr>
        </p:nvSpPr>
        <p:spPr/>
        <p:txBody>
          <a:bodyPr/>
          <a:lstStyle/>
          <a:p>
            <a:r>
              <a:rPr lang="en-US" dirty="0"/>
              <a:t>Most companies currently experiences production losses due to unexpected machine failures. While sensor data is available, it is not being fully leveraged to predict when a failure is imminent.</a:t>
            </a:r>
          </a:p>
        </p:txBody>
      </p:sp>
    </p:spTree>
    <p:extLst>
      <p:ext uri="{BB962C8B-B14F-4D97-AF65-F5344CB8AC3E}">
        <p14:creationId xmlns:p14="http://schemas.microsoft.com/office/powerpoint/2010/main" val="1644394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639F0-A2FC-78A5-1457-F0F355E5265A}"/>
              </a:ext>
            </a:extLst>
          </p:cNvPr>
          <p:cNvSpPr>
            <a:spLocks noGrp="1"/>
          </p:cNvSpPr>
          <p:nvPr>
            <p:ph type="title"/>
          </p:nvPr>
        </p:nvSpPr>
        <p:spPr/>
        <p:txBody>
          <a:bodyPr/>
          <a:lstStyle/>
          <a:p>
            <a:r>
              <a:rPr lang="en-US" b="1" dirty="0"/>
              <a:t>DATA UNDERSTANDING</a:t>
            </a:r>
          </a:p>
        </p:txBody>
      </p:sp>
      <p:sp>
        <p:nvSpPr>
          <p:cNvPr id="3" name="Content Placeholder 2">
            <a:extLst>
              <a:ext uri="{FF2B5EF4-FFF2-40B4-BE49-F238E27FC236}">
                <a16:creationId xmlns:a16="http://schemas.microsoft.com/office/drawing/2014/main" id="{82D61A91-1B49-7498-3093-B1A361DA431F}"/>
              </a:ext>
            </a:extLst>
          </p:cNvPr>
          <p:cNvSpPr>
            <a:spLocks noGrp="1"/>
          </p:cNvSpPr>
          <p:nvPr>
            <p:ph idx="1"/>
          </p:nvPr>
        </p:nvSpPr>
        <p:spPr>
          <a:xfrm>
            <a:off x="685800" y="2194560"/>
            <a:ext cx="10820400" cy="4471711"/>
          </a:xfrm>
        </p:spPr>
        <p:txBody>
          <a:bodyPr>
            <a:normAutofit/>
          </a:bodyPr>
          <a:lstStyle/>
          <a:p>
            <a:pPr marL="0" indent="0">
              <a:buNone/>
            </a:pPr>
            <a:r>
              <a:rPr lang="en-US" dirty="0"/>
              <a:t>The dataset consists of 10,000 records and 10 columns, collected from manufacturing machines equipped with various sensors. </a:t>
            </a:r>
          </a:p>
          <a:p>
            <a:pPr marL="0" indent="0">
              <a:buNone/>
            </a:pPr>
            <a:r>
              <a:rPr lang="en-US" dirty="0"/>
              <a:t>Important columns include:</a:t>
            </a:r>
          </a:p>
          <a:p>
            <a:r>
              <a:rPr lang="en-US" dirty="0"/>
              <a:t>Type of machine</a:t>
            </a:r>
          </a:p>
          <a:p>
            <a:r>
              <a:rPr lang="en-US" dirty="0"/>
              <a:t>Air temperature [K]</a:t>
            </a:r>
          </a:p>
          <a:p>
            <a:r>
              <a:rPr lang="en-US" dirty="0"/>
              <a:t>Process temperature [K]</a:t>
            </a:r>
          </a:p>
          <a:p>
            <a:r>
              <a:rPr lang="en-US" dirty="0"/>
              <a:t>Rotational speed [rpm]</a:t>
            </a:r>
          </a:p>
          <a:p>
            <a:r>
              <a:rPr lang="en-US" dirty="0"/>
              <a:t>Torque [Nm]</a:t>
            </a:r>
          </a:p>
          <a:p>
            <a:r>
              <a:rPr lang="en-US" dirty="0"/>
              <a:t>Tool wear [min]</a:t>
            </a:r>
          </a:p>
          <a:p>
            <a:r>
              <a:rPr lang="en-US" dirty="0"/>
              <a:t>Binary indicator of failure — 0 for no failure, 1 for failure.</a:t>
            </a:r>
          </a:p>
          <a:p>
            <a:pPr marL="0" indent="0">
              <a:buNone/>
            </a:pPr>
            <a:endParaRPr lang="en-US" dirty="0"/>
          </a:p>
        </p:txBody>
      </p:sp>
    </p:spTree>
    <p:extLst>
      <p:ext uri="{BB962C8B-B14F-4D97-AF65-F5344CB8AC3E}">
        <p14:creationId xmlns:p14="http://schemas.microsoft.com/office/powerpoint/2010/main" val="3565568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9B2AD-6E3B-703B-DBA8-DDCB8FEF8D1C}"/>
              </a:ext>
            </a:extLst>
          </p:cNvPr>
          <p:cNvSpPr>
            <a:spLocks noGrp="1"/>
          </p:cNvSpPr>
          <p:nvPr>
            <p:ph type="title"/>
          </p:nvPr>
        </p:nvSpPr>
        <p:spPr/>
        <p:txBody>
          <a:bodyPr/>
          <a:lstStyle/>
          <a:p>
            <a:r>
              <a:rPr lang="en-US" b="1" dirty="0"/>
              <a:t>DATA Preparation</a:t>
            </a:r>
            <a:r>
              <a:rPr lang="en-US" dirty="0"/>
              <a:t> </a:t>
            </a:r>
          </a:p>
        </p:txBody>
      </p:sp>
      <p:sp>
        <p:nvSpPr>
          <p:cNvPr id="3" name="Content Placeholder 2">
            <a:extLst>
              <a:ext uri="{FF2B5EF4-FFF2-40B4-BE49-F238E27FC236}">
                <a16:creationId xmlns:a16="http://schemas.microsoft.com/office/drawing/2014/main" id="{265E56D0-89D6-D093-CEF4-3742C0459650}"/>
              </a:ext>
            </a:extLst>
          </p:cNvPr>
          <p:cNvSpPr>
            <a:spLocks noGrp="1"/>
          </p:cNvSpPr>
          <p:nvPr>
            <p:ph idx="1"/>
          </p:nvPr>
        </p:nvSpPr>
        <p:spPr/>
        <p:txBody>
          <a:bodyPr/>
          <a:lstStyle/>
          <a:p>
            <a:pPr marL="0" indent="0">
              <a:buNone/>
            </a:pPr>
            <a:r>
              <a:rPr lang="en-US" dirty="0"/>
              <a:t>The process involved:</a:t>
            </a:r>
          </a:p>
          <a:p>
            <a:r>
              <a:rPr lang="en-US" dirty="0"/>
              <a:t>Dropping of unnecessary columns such as product ID</a:t>
            </a:r>
          </a:p>
          <a:p>
            <a:r>
              <a:rPr lang="en-US" dirty="0"/>
              <a:t>Adding new features such as; temperature difference</a:t>
            </a:r>
          </a:p>
          <a:p>
            <a:r>
              <a:rPr lang="en-US" dirty="0"/>
              <a:t>Data preprocessing i.e label encoding and scaling of the features</a:t>
            </a:r>
          </a:p>
        </p:txBody>
      </p:sp>
    </p:spTree>
    <p:extLst>
      <p:ext uri="{BB962C8B-B14F-4D97-AF65-F5344CB8AC3E}">
        <p14:creationId xmlns:p14="http://schemas.microsoft.com/office/powerpoint/2010/main" val="2680939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F32A0-602A-076F-A19D-8B4D3AB85704}"/>
              </a:ext>
            </a:extLst>
          </p:cNvPr>
          <p:cNvSpPr>
            <a:spLocks noGrp="1"/>
          </p:cNvSpPr>
          <p:nvPr>
            <p:ph type="title"/>
          </p:nvPr>
        </p:nvSpPr>
        <p:spPr/>
        <p:txBody>
          <a:bodyPr/>
          <a:lstStyle/>
          <a:p>
            <a:r>
              <a:rPr lang="en-US" b="1" dirty="0"/>
              <a:t>EXPLORATORY DATA ANALYSIS</a:t>
            </a:r>
          </a:p>
        </p:txBody>
      </p:sp>
      <p:sp>
        <p:nvSpPr>
          <p:cNvPr id="3" name="Content Placeholder 2">
            <a:extLst>
              <a:ext uri="{FF2B5EF4-FFF2-40B4-BE49-F238E27FC236}">
                <a16:creationId xmlns:a16="http://schemas.microsoft.com/office/drawing/2014/main" id="{FB00AE44-AB1C-6607-59B7-E73BF5AA7748}"/>
              </a:ext>
            </a:extLst>
          </p:cNvPr>
          <p:cNvSpPr>
            <a:spLocks noGrp="1"/>
          </p:cNvSpPr>
          <p:nvPr>
            <p:ph idx="1"/>
          </p:nvPr>
        </p:nvSpPr>
        <p:spPr/>
        <p:txBody>
          <a:bodyPr/>
          <a:lstStyle/>
          <a:p>
            <a:r>
              <a:rPr lang="en-US" dirty="0"/>
              <a:t>Univariate Analysis</a:t>
            </a:r>
          </a:p>
          <a:p>
            <a:r>
              <a:rPr lang="en-US" dirty="0"/>
              <a:t>Bi-variate Analysis</a:t>
            </a:r>
          </a:p>
          <a:p>
            <a:r>
              <a:rPr lang="en-US" dirty="0"/>
              <a:t>Multi-variate Analysis</a:t>
            </a:r>
          </a:p>
        </p:txBody>
      </p:sp>
    </p:spTree>
    <p:extLst>
      <p:ext uri="{BB962C8B-B14F-4D97-AF65-F5344CB8AC3E}">
        <p14:creationId xmlns:p14="http://schemas.microsoft.com/office/powerpoint/2010/main" val="350805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6868C7-7824-11C3-AAC6-3DAB58BB1B5F}"/>
              </a:ext>
            </a:extLst>
          </p:cNvPr>
          <p:cNvSpPr>
            <a:spLocks noGrp="1"/>
          </p:cNvSpPr>
          <p:nvPr>
            <p:ph type="title"/>
          </p:nvPr>
        </p:nvSpPr>
        <p:spPr/>
        <p:txBody>
          <a:bodyPr/>
          <a:lstStyle/>
          <a:p>
            <a:r>
              <a:rPr lang="en-US" b="1" dirty="0"/>
              <a:t>DISTRIBUTION OF ROTATION SPEED</a:t>
            </a:r>
          </a:p>
        </p:txBody>
      </p:sp>
      <p:sp>
        <p:nvSpPr>
          <p:cNvPr id="6" name="Content Placeholder 5">
            <a:extLst>
              <a:ext uri="{FF2B5EF4-FFF2-40B4-BE49-F238E27FC236}">
                <a16:creationId xmlns:a16="http://schemas.microsoft.com/office/drawing/2014/main" id="{720B0CD2-9CE4-A2D9-DDEE-76570E37DBD4}"/>
              </a:ext>
            </a:extLst>
          </p:cNvPr>
          <p:cNvSpPr>
            <a:spLocks noGrp="1"/>
          </p:cNvSpPr>
          <p:nvPr>
            <p:ph sz="half" idx="2"/>
          </p:nvPr>
        </p:nvSpPr>
        <p:spPr>
          <a:xfrm>
            <a:off x="6430296" y="2194559"/>
            <a:ext cx="5075903" cy="4024125"/>
          </a:xfrm>
        </p:spPr>
        <p:txBody>
          <a:bodyPr/>
          <a:lstStyle/>
          <a:p>
            <a:r>
              <a:rPr lang="en-US" dirty="0"/>
              <a:t>The distribution is clearly </a:t>
            </a:r>
            <a:r>
              <a:rPr lang="en-US" b="1" dirty="0"/>
              <a:t>right-skewed (positively skewed)</a:t>
            </a:r>
            <a:r>
              <a:rPr lang="en-US" dirty="0"/>
              <a:t>. This means the tail of the distribution extends further to the right.</a:t>
            </a:r>
          </a:p>
          <a:p>
            <a:r>
              <a:rPr lang="en-US" dirty="0"/>
              <a:t>The peak of the distribution, which represents the most frequent rotational speeds, appears to be around </a:t>
            </a:r>
            <a:r>
              <a:rPr lang="en-US" b="1" dirty="0"/>
              <a:t>1450-1500 RPM</a:t>
            </a:r>
            <a:r>
              <a:rPr lang="en-US" dirty="0"/>
              <a:t>.</a:t>
            </a:r>
          </a:p>
        </p:txBody>
      </p:sp>
      <p:pic>
        <p:nvPicPr>
          <p:cNvPr id="1026" name="Picture 2">
            <a:extLst>
              <a:ext uri="{FF2B5EF4-FFF2-40B4-BE49-F238E27FC236}">
                <a16:creationId xmlns:a16="http://schemas.microsoft.com/office/drawing/2014/main" id="{BF4593E1-F426-DCB3-2FF4-8FE28A83549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65471" y="2194559"/>
            <a:ext cx="5754329" cy="3899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093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55C6-B189-7A36-AD4F-35CA37513E49}"/>
              </a:ext>
            </a:extLst>
          </p:cNvPr>
          <p:cNvSpPr>
            <a:spLocks noGrp="1"/>
          </p:cNvSpPr>
          <p:nvPr>
            <p:ph type="title"/>
          </p:nvPr>
        </p:nvSpPr>
        <p:spPr/>
        <p:txBody>
          <a:bodyPr/>
          <a:lstStyle/>
          <a:p>
            <a:r>
              <a:rPr lang="en-US" b="1" dirty="0"/>
              <a:t>DISTRIBUTION OF THE TARGET</a:t>
            </a:r>
          </a:p>
        </p:txBody>
      </p:sp>
      <p:sp>
        <p:nvSpPr>
          <p:cNvPr id="4" name="Content Placeholder 3">
            <a:extLst>
              <a:ext uri="{FF2B5EF4-FFF2-40B4-BE49-F238E27FC236}">
                <a16:creationId xmlns:a16="http://schemas.microsoft.com/office/drawing/2014/main" id="{A2BFCCEA-4467-E6E2-F5AB-F1A12103E51B}"/>
              </a:ext>
            </a:extLst>
          </p:cNvPr>
          <p:cNvSpPr>
            <a:spLocks noGrp="1"/>
          </p:cNvSpPr>
          <p:nvPr>
            <p:ph sz="half" idx="2"/>
          </p:nvPr>
        </p:nvSpPr>
        <p:spPr>
          <a:xfrm>
            <a:off x="6636774" y="2194559"/>
            <a:ext cx="4869426" cy="4024125"/>
          </a:xfrm>
        </p:spPr>
        <p:txBody>
          <a:bodyPr/>
          <a:lstStyle/>
          <a:p>
            <a:r>
              <a:rPr lang="en-US" dirty="0"/>
              <a:t>The 'Distribution of Target' plot shows a significant class imbalance. The number of instances with 'No Failure' (0) is much higher than those with 'Failure' (1). </a:t>
            </a:r>
          </a:p>
        </p:txBody>
      </p:sp>
      <p:pic>
        <p:nvPicPr>
          <p:cNvPr id="2050" name="Picture 2">
            <a:extLst>
              <a:ext uri="{FF2B5EF4-FFF2-40B4-BE49-F238E27FC236}">
                <a16:creationId xmlns:a16="http://schemas.microsoft.com/office/drawing/2014/main" id="{3F5FC284-E8D7-907D-E40B-5731E9EE893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50723" y="2194559"/>
            <a:ext cx="6120580" cy="3899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291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EFCDD8-DCD2-0C66-AFF7-3699BAD39CAF}"/>
              </a:ext>
            </a:extLst>
          </p:cNvPr>
          <p:cNvSpPr>
            <a:spLocks noGrp="1"/>
          </p:cNvSpPr>
          <p:nvPr>
            <p:ph type="title"/>
          </p:nvPr>
        </p:nvSpPr>
        <p:spPr/>
        <p:txBody>
          <a:bodyPr/>
          <a:lstStyle/>
          <a:p>
            <a:r>
              <a:rPr lang="en-US" b="1" dirty="0"/>
              <a:t>MODELING</a:t>
            </a:r>
          </a:p>
        </p:txBody>
      </p:sp>
      <p:sp>
        <p:nvSpPr>
          <p:cNvPr id="9" name="Content Placeholder 8">
            <a:extLst>
              <a:ext uri="{FF2B5EF4-FFF2-40B4-BE49-F238E27FC236}">
                <a16:creationId xmlns:a16="http://schemas.microsoft.com/office/drawing/2014/main" id="{8F207EBD-4579-0727-F9CB-1DA77AD469A7}"/>
              </a:ext>
            </a:extLst>
          </p:cNvPr>
          <p:cNvSpPr>
            <a:spLocks noGrp="1"/>
          </p:cNvSpPr>
          <p:nvPr>
            <p:ph idx="1"/>
          </p:nvPr>
        </p:nvSpPr>
        <p:spPr/>
        <p:txBody>
          <a:bodyPr>
            <a:normAutofit fontScale="92500" lnSpcReduction="20000"/>
          </a:bodyPr>
          <a:lstStyle/>
          <a:p>
            <a:pPr marL="0" indent="0">
              <a:buNone/>
            </a:pPr>
            <a:r>
              <a:rPr lang="en-US" dirty="0"/>
              <a:t>For the modeling part build FOUR traditional models that are good with classification. These models are:</a:t>
            </a:r>
          </a:p>
          <a:p>
            <a:endParaRPr lang="en-US" dirty="0"/>
          </a:p>
          <a:p>
            <a:r>
              <a:rPr lang="en-US" dirty="0"/>
              <a:t>Logistic Regression</a:t>
            </a:r>
          </a:p>
          <a:p>
            <a:r>
              <a:rPr lang="en-US" dirty="0"/>
              <a:t>Random Forest Classifier</a:t>
            </a:r>
          </a:p>
          <a:p>
            <a:r>
              <a:rPr lang="en-US" dirty="0"/>
              <a:t>XGBoost</a:t>
            </a:r>
          </a:p>
          <a:p>
            <a:r>
              <a:rPr lang="en-US" dirty="0"/>
              <a:t>Support Vector Machine</a:t>
            </a:r>
          </a:p>
          <a:p>
            <a:pPr marL="0" indent="0">
              <a:buNone/>
            </a:pPr>
            <a:endParaRPr lang="en-US" dirty="0"/>
          </a:p>
          <a:p>
            <a:pPr marL="0" indent="0">
              <a:buNone/>
            </a:pPr>
            <a:r>
              <a:rPr lang="en-US" dirty="0"/>
              <a:t>For the deep learning models  tried out Artificial Neural Network (ANN)</a:t>
            </a:r>
          </a:p>
          <a:p>
            <a:pPr marL="0" indent="0">
              <a:buNone/>
            </a:pPr>
            <a:endParaRPr lang="en-US" dirty="0"/>
          </a:p>
          <a:p>
            <a:pPr marL="0" indent="0">
              <a:buNone/>
            </a:pPr>
            <a:r>
              <a:rPr lang="en-US" dirty="0"/>
              <a:t>The best performing models were the Random Forest and XGBoost which was ensembled and performed much better</a:t>
            </a:r>
          </a:p>
        </p:txBody>
      </p:sp>
    </p:spTree>
    <p:extLst>
      <p:ext uri="{BB962C8B-B14F-4D97-AF65-F5344CB8AC3E}">
        <p14:creationId xmlns:p14="http://schemas.microsoft.com/office/powerpoint/2010/main" val="3714128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A606-D1C9-4EFA-2D99-6A6F77F0D14B}"/>
              </a:ext>
            </a:extLst>
          </p:cNvPr>
          <p:cNvSpPr>
            <a:spLocks noGrp="1"/>
          </p:cNvSpPr>
          <p:nvPr>
            <p:ph type="title"/>
          </p:nvPr>
        </p:nvSpPr>
        <p:spPr/>
        <p:txBody>
          <a:bodyPr/>
          <a:lstStyle/>
          <a:p>
            <a:r>
              <a:rPr lang="en-US" b="1" dirty="0"/>
              <a:t>EVALUATION</a:t>
            </a:r>
          </a:p>
        </p:txBody>
      </p:sp>
      <p:graphicFrame>
        <p:nvGraphicFramePr>
          <p:cNvPr id="4" name="Content Placeholder 3">
            <a:extLst>
              <a:ext uri="{FF2B5EF4-FFF2-40B4-BE49-F238E27FC236}">
                <a16:creationId xmlns:a16="http://schemas.microsoft.com/office/drawing/2014/main" id="{D4251242-F113-7E1B-0F1A-7E9BE1D97CFD}"/>
              </a:ext>
            </a:extLst>
          </p:cNvPr>
          <p:cNvGraphicFramePr>
            <a:graphicFrameLocks noGrp="1"/>
          </p:cNvGraphicFramePr>
          <p:nvPr>
            <p:ph idx="1"/>
            <p:extLst>
              <p:ext uri="{D42A27DB-BD31-4B8C-83A1-F6EECF244321}">
                <p14:modId xmlns:p14="http://schemas.microsoft.com/office/powerpoint/2010/main" val="1844170222"/>
              </p:ext>
            </p:extLst>
          </p:nvPr>
        </p:nvGraphicFramePr>
        <p:xfrm>
          <a:off x="685800" y="2193925"/>
          <a:ext cx="10820400" cy="2595880"/>
        </p:xfrm>
        <a:graphic>
          <a:graphicData uri="http://schemas.openxmlformats.org/drawingml/2006/table">
            <a:tbl>
              <a:tblPr firstRow="1" bandRow="1">
                <a:tableStyleId>{7E9639D4-E3E2-4D34-9284-5A2195B3D0D7}</a:tableStyleId>
              </a:tblPr>
              <a:tblGrid>
                <a:gridCol w="3606800">
                  <a:extLst>
                    <a:ext uri="{9D8B030D-6E8A-4147-A177-3AD203B41FA5}">
                      <a16:colId xmlns:a16="http://schemas.microsoft.com/office/drawing/2014/main" val="2667370847"/>
                    </a:ext>
                  </a:extLst>
                </a:gridCol>
                <a:gridCol w="3606800">
                  <a:extLst>
                    <a:ext uri="{9D8B030D-6E8A-4147-A177-3AD203B41FA5}">
                      <a16:colId xmlns:a16="http://schemas.microsoft.com/office/drawing/2014/main" val="629475381"/>
                    </a:ext>
                  </a:extLst>
                </a:gridCol>
                <a:gridCol w="3606800">
                  <a:extLst>
                    <a:ext uri="{9D8B030D-6E8A-4147-A177-3AD203B41FA5}">
                      <a16:colId xmlns:a16="http://schemas.microsoft.com/office/drawing/2014/main" val="1563550613"/>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F1-SCORE</a:t>
                      </a:r>
                    </a:p>
                  </a:txBody>
                  <a:tcPr/>
                </a:tc>
                <a:extLst>
                  <a:ext uri="{0D108BD9-81ED-4DB2-BD59-A6C34878D82A}">
                    <a16:rowId xmlns:a16="http://schemas.microsoft.com/office/drawing/2014/main" val="1147851535"/>
                  </a:ext>
                </a:extLst>
              </a:tr>
              <a:tr h="370840">
                <a:tc>
                  <a:txBody>
                    <a:bodyPr/>
                    <a:lstStyle/>
                    <a:p>
                      <a:r>
                        <a:rPr lang="en-US" dirty="0"/>
                        <a:t>ENSEMBLE MODEL</a:t>
                      </a:r>
                    </a:p>
                  </a:txBody>
                  <a:tcPr/>
                </a:tc>
                <a:tc>
                  <a:txBody>
                    <a:bodyPr/>
                    <a:lstStyle/>
                    <a:p>
                      <a:r>
                        <a:rPr lang="en-US" dirty="0"/>
                        <a:t>99%</a:t>
                      </a:r>
                    </a:p>
                  </a:txBody>
                  <a:tcPr/>
                </a:tc>
                <a:tc>
                  <a:txBody>
                    <a:bodyPr/>
                    <a:lstStyle/>
                    <a:p>
                      <a:r>
                        <a:rPr lang="en-US" dirty="0"/>
                        <a:t>91%</a:t>
                      </a:r>
                    </a:p>
                  </a:txBody>
                  <a:tcPr/>
                </a:tc>
                <a:extLst>
                  <a:ext uri="{0D108BD9-81ED-4DB2-BD59-A6C34878D82A}">
                    <a16:rowId xmlns:a16="http://schemas.microsoft.com/office/drawing/2014/main" val="3173116532"/>
                  </a:ext>
                </a:extLst>
              </a:tr>
              <a:tr h="370840">
                <a:tc>
                  <a:txBody>
                    <a:bodyPr/>
                    <a:lstStyle/>
                    <a:p>
                      <a:r>
                        <a:rPr lang="en-US" dirty="0"/>
                        <a:t>RANDOM FOREST</a:t>
                      </a:r>
                    </a:p>
                  </a:txBody>
                  <a:tcPr/>
                </a:tc>
                <a:tc>
                  <a:txBody>
                    <a:bodyPr/>
                    <a:lstStyle/>
                    <a:p>
                      <a:r>
                        <a:rPr lang="en-US" dirty="0"/>
                        <a:t>99%</a:t>
                      </a:r>
                    </a:p>
                  </a:txBody>
                  <a:tcPr/>
                </a:tc>
                <a:tc>
                  <a:txBody>
                    <a:bodyPr/>
                    <a:lstStyle/>
                    <a:p>
                      <a:r>
                        <a:rPr lang="en-US" dirty="0"/>
                        <a:t>91%</a:t>
                      </a:r>
                    </a:p>
                  </a:txBody>
                  <a:tcPr/>
                </a:tc>
                <a:extLst>
                  <a:ext uri="{0D108BD9-81ED-4DB2-BD59-A6C34878D82A}">
                    <a16:rowId xmlns:a16="http://schemas.microsoft.com/office/drawing/2014/main" val="1708337705"/>
                  </a:ext>
                </a:extLst>
              </a:tr>
              <a:tr h="370840">
                <a:tc>
                  <a:txBody>
                    <a:bodyPr/>
                    <a:lstStyle/>
                    <a:p>
                      <a:r>
                        <a:rPr lang="en-US" dirty="0"/>
                        <a:t>XGBOOST</a:t>
                      </a:r>
                    </a:p>
                  </a:txBody>
                  <a:tcPr/>
                </a:tc>
                <a:tc>
                  <a:txBody>
                    <a:bodyPr/>
                    <a:lstStyle/>
                    <a:p>
                      <a:r>
                        <a:rPr lang="en-US" dirty="0"/>
                        <a:t>99%</a:t>
                      </a:r>
                    </a:p>
                  </a:txBody>
                  <a:tcPr/>
                </a:tc>
                <a:tc>
                  <a:txBody>
                    <a:bodyPr/>
                    <a:lstStyle/>
                    <a:p>
                      <a:r>
                        <a:rPr lang="en-US" dirty="0"/>
                        <a:t>90%</a:t>
                      </a:r>
                    </a:p>
                  </a:txBody>
                  <a:tcPr/>
                </a:tc>
                <a:extLst>
                  <a:ext uri="{0D108BD9-81ED-4DB2-BD59-A6C34878D82A}">
                    <a16:rowId xmlns:a16="http://schemas.microsoft.com/office/drawing/2014/main" val="364262240"/>
                  </a:ext>
                </a:extLst>
              </a:tr>
              <a:tr h="370840">
                <a:tc>
                  <a:txBody>
                    <a:bodyPr/>
                    <a:lstStyle/>
                    <a:p>
                      <a:r>
                        <a:rPr lang="en-US" dirty="0"/>
                        <a:t>SUPPORT VECTOR MACHINE</a:t>
                      </a:r>
                    </a:p>
                  </a:txBody>
                  <a:tcPr/>
                </a:tc>
                <a:tc>
                  <a:txBody>
                    <a:bodyPr/>
                    <a:lstStyle/>
                    <a:p>
                      <a:r>
                        <a:rPr lang="en-US" dirty="0"/>
                        <a:t>98%</a:t>
                      </a:r>
                    </a:p>
                  </a:txBody>
                  <a:tcPr/>
                </a:tc>
                <a:tc>
                  <a:txBody>
                    <a:bodyPr/>
                    <a:lstStyle/>
                    <a:p>
                      <a:r>
                        <a:rPr lang="en-US" dirty="0"/>
                        <a:t>83%</a:t>
                      </a:r>
                    </a:p>
                  </a:txBody>
                  <a:tcPr/>
                </a:tc>
                <a:extLst>
                  <a:ext uri="{0D108BD9-81ED-4DB2-BD59-A6C34878D82A}">
                    <a16:rowId xmlns:a16="http://schemas.microsoft.com/office/drawing/2014/main" val="1146925133"/>
                  </a:ext>
                </a:extLst>
              </a:tr>
              <a:tr h="370840">
                <a:tc>
                  <a:txBody>
                    <a:bodyPr/>
                    <a:lstStyle/>
                    <a:p>
                      <a:r>
                        <a:rPr lang="en-US" dirty="0"/>
                        <a:t>LOGISTIC REGRESSION</a:t>
                      </a:r>
                    </a:p>
                  </a:txBody>
                  <a:tcPr/>
                </a:tc>
                <a:tc>
                  <a:txBody>
                    <a:bodyPr/>
                    <a:lstStyle/>
                    <a:p>
                      <a:r>
                        <a:rPr lang="en-US" dirty="0"/>
                        <a:t>87%</a:t>
                      </a:r>
                    </a:p>
                  </a:txBody>
                  <a:tcPr/>
                </a:tc>
                <a:tc>
                  <a:txBody>
                    <a:bodyPr/>
                    <a:lstStyle/>
                    <a:p>
                      <a:r>
                        <a:rPr lang="en-US" dirty="0"/>
                        <a:t>60%</a:t>
                      </a:r>
                    </a:p>
                  </a:txBody>
                  <a:tcPr/>
                </a:tc>
                <a:extLst>
                  <a:ext uri="{0D108BD9-81ED-4DB2-BD59-A6C34878D82A}">
                    <a16:rowId xmlns:a16="http://schemas.microsoft.com/office/drawing/2014/main" val="967899139"/>
                  </a:ext>
                </a:extLst>
              </a:tr>
              <a:tr h="370840">
                <a:tc>
                  <a:txBody>
                    <a:bodyPr/>
                    <a:lstStyle/>
                    <a:p>
                      <a:r>
                        <a:rPr lang="en-US" dirty="0"/>
                        <a:t>NEURAL NETWORK</a:t>
                      </a:r>
                    </a:p>
                  </a:txBody>
                  <a:tcPr/>
                </a:tc>
                <a:tc>
                  <a:txBody>
                    <a:bodyPr/>
                    <a:lstStyle/>
                    <a:p>
                      <a:r>
                        <a:rPr lang="en-US" dirty="0"/>
                        <a:t>98%</a:t>
                      </a:r>
                    </a:p>
                  </a:txBody>
                  <a:tcPr/>
                </a:tc>
                <a:tc>
                  <a:txBody>
                    <a:bodyPr/>
                    <a:lstStyle/>
                    <a:p>
                      <a:r>
                        <a:rPr lang="en-US" dirty="0"/>
                        <a:t>81%</a:t>
                      </a:r>
                    </a:p>
                  </a:txBody>
                  <a:tcPr/>
                </a:tc>
                <a:extLst>
                  <a:ext uri="{0D108BD9-81ED-4DB2-BD59-A6C34878D82A}">
                    <a16:rowId xmlns:a16="http://schemas.microsoft.com/office/drawing/2014/main" val="578261964"/>
                  </a:ext>
                </a:extLst>
              </a:tr>
            </a:tbl>
          </a:graphicData>
        </a:graphic>
      </p:graphicFrame>
    </p:spTree>
    <p:extLst>
      <p:ext uri="{BB962C8B-B14F-4D97-AF65-F5344CB8AC3E}">
        <p14:creationId xmlns:p14="http://schemas.microsoft.com/office/powerpoint/2010/main" val="1771214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86C04-7058-E766-118B-30993BD99CB0}"/>
              </a:ext>
            </a:extLst>
          </p:cNvPr>
          <p:cNvSpPr>
            <a:spLocks noGrp="1"/>
          </p:cNvSpPr>
          <p:nvPr>
            <p:ph type="title"/>
          </p:nvPr>
        </p:nvSpPr>
        <p:spPr/>
        <p:txBody>
          <a:bodyPr/>
          <a:lstStyle/>
          <a:p>
            <a:r>
              <a:rPr lang="en-US" b="1" dirty="0"/>
              <a:t>ENSEMBLE MODEL CONFUSION MATRIX</a:t>
            </a:r>
          </a:p>
        </p:txBody>
      </p:sp>
      <p:sp>
        <p:nvSpPr>
          <p:cNvPr id="5" name="Content Placeholder 4">
            <a:extLst>
              <a:ext uri="{FF2B5EF4-FFF2-40B4-BE49-F238E27FC236}">
                <a16:creationId xmlns:a16="http://schemas.microsoft.com/office/drawing/2014/main" id="{345C18D1-FD85-5B29-D3C5-871225F24972}"/>
              </a:ext>
            </a:extLst>
          </p:cNvPr>
          <p:cNvSpPr>
            <a:spLocks noGrp="1"/>
          </p:cNvSpPr>
          <p:nvPr>
            <p:ph sz="half" idx="2"/>
          </p:nvPr>
        </p:nvSpPr>
        <p:spPr>
          <a:xfrm>
            <a:off x="6172200" y="2194559"/>
            <a:ext cx="5803490" cy="4206241"/>
          </a:xfrm>
        </p:spPr>
        <p:txBody>
          <a:bodyPr>
            <a:normAutofit fontScale="85000" lnSpcReduction="20000"/>
          </a:bodyPr>
          <a:lstStyle/>
          <a:p>
            <a:r>
              <a:rPr lang="en-US" dirty="0"/>
              <a:t>True Negatives (No Failure correctly predicted as No Failure): 1935 instances. </a:t>
            </a:r>
          </a:p>
          <a:p>
            <a:r>
              <a:rPr lang="en-US" dirty="0"/>
              <a:t>This is the highest number of correctly predicted "No Failure" instances among all models reviewed. T- rue Positives (Failure correctly predicted as Failure): 46 instances.</a:t>
            </a:r>
          </a:p>
          <a:p>
            <a:r>
              <a:rPr lang="en-US" dirty="0"/>
              <a:t>False Positives (No Failure incorrectly predicted as Failure): 4 instances. This is the lowest number of false positives among all models reviewed, indicating very few instances where "No Failure" was wrongly flagged as "Failure."</a:t>
            </a:r>
          </a:p>
          <a:p>
            <a:r>
              <a:rPr lang="en-US" dirty="0"/>
              <a:t>False Negatives (Failure incorrectly predicted as No Failure): 15 instances. This is tied with the Random Forest model for the lowest number of false negatives, meaning it missed fewer actual "Failure" events.</a:t>
            </a:r>
          </a:p>
          <a:p>
            <a:endParaRPr lang="en-US" dirty="0"/>
          </a:p>
        </p:txBody>
      </p:sp>
      <p:pic>
        <p:nvPicPr>
          <p:cNvPr id="3074" name="Picture 2">
            <a:extLst>
              <a:ext uri="{FF2B5EF4-FFF2-40B4-BE49-F238E27FC236}">
                <a16:creationId xmlns:a16="http://schemas.microsoft.com/office/drawing/2014/main" id="{76966429-320A-97F8-3FAF-A011089EFC1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58291" y="2193925"/>
            <a:ext cx="5189017" cy="4024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922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BFC7-9BB5-C6A0-30CE-491032F36133}"/>
              </a:ext>
            </a:extLst>
          </p:cNvPr>
          <p:cNvSpPr>
            <a:spLocks noGrp="1"/>
          </p:cNvSpPr>
          <p:nvPr>
            <p:ph type="title"/>
          </p:nvPr>
        </p:nvSpPr>
        <p:spPr/>
        <p:txBody>
          <a:bodyPr/>
          <a:lstStyle/>
          <a:p>
            <a:r>
              <a:rPr lang="en-US" b="1" dirty="0"/>
              <a:t>Feature importance graph</a:t>
            </a:r>
          </a:p>
        </p:txBody>
      </p:sp>
      <p:sp>
        <p:nvSpPr>
          <p:cNvPr id="4" name="Content Placeholder 3">
            <a:extLst>
              <a:ext uri="{FF2B5EF4-FFF2-40B4-BE49-F238E27FC236}">
                <a16:creationId xmlns:a16="http://schemas.microsoft.com/office/drawing/2014/main" id="{4A12DACB-F723-F5ED-BC97-E86023D5FE00}"/>
              </a:ext>
            </a:extLst>
          </p:cNvPr>
          <p:cNvSpPr>
            <a:spLocks noGrp="1"/>
          </p:cNvSpPr>
          <p:nvPr>
            <p:ph sz="half" idx="2"/>
          </p:nvPr>
        </p:nvSpPr>
        <p:spPr/>
        <p:txBody>
          <a:bodyPr>
            <a:normAutofit fontScale="92500" lnSpcReduction="10000"/>
          </a:bodyPr>
          <a:lstStyle/>
          <a:p>
            <a:pPr marL="0" indent="0">
              <a:buNone/>
            </a:pPr>
            <a:r>
              <a:rPr lang="en-US" b="1" dirty="0"/>
              <a:t>Dominant Features:</a:t>
            </a:r>
            <a:endParaRPr lang="en-US" dirty="0"/>
          </a:p>
          <a:p>
            <a:r>
              <a:rPr lang="en-US" dirty="0"/>
              <a:t>rotational_speed_[rpm] is by far the most important feature, with the highest mean importance value (around 0.0175).</a:t>
            </a:r>
          </a:p>
          <a:p>
            <a:r>
              <a:rPr lang="en-US" dirty="0"/>
              <a:t>temp_diff and torque_speed_interaction are also highly important, following rotational_speed_[rpm] closely.</a:t>
            </a:r>
          </a:p>
          <a:p>
            <a:r>
              <a:rPr lang="en-US" dirty="0"/>
              <a:t>tool_wear_[min] and torque_[nm] are the next most important features, though with a noticeable drop in importance compared to the top three.</a:t>
            </a:r>
          </a:p>
          <a:p>
            <a:endParaRPr lang="en-US" dirty="0"/>
          </a:p>
        </p:txBody>
      </p:sp>
      <p:pic>
        <p:nvPicPr>
          <p:cNvPr id="4098" name="Picture 2">
            <a:extLst>
              <a:ext uri="{FF2B5EF4-FFF2-40B4-BE49-F238E27FC236}">
                <a16:creationId xmlns:a16="http://schemas.microsoft.com/office/drawing/2014/main" id="{A546CBA1-893B-3E5F-B902-91A6A988EF91}"/>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47484" y="2194560"/>
            <a:ext cx="5872316" cy="4024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648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D6B2-5010-E18D-D5B5-41D831BEEFFC}"/>
              </a:ext>
            </a:extLst>
          </p:cNvPr>
          <p:cNvSpPr>
            <a:spLocks noGrp="1"/>
          </p:cNvSpPr>
          <p:nvPr>
            <p:ph type="title"/>
          </p:nvPr>
        </p:nvSpPr>
        <p:spPr/>
        <p:txBody>
          <a:bodyPr/>
          <a:lstStyle/>
          <a:p>
            <a:r>
              <a:rPr lang="en-US" b="1" dirty="0"/>
              <a:t>CONCLUSION</a:t>
            </a:r>
          </a:p>
        </p:txBody>
      </p:sp>
      <p:sp>
        <p:nvSpPr>
          <p:cNvPr id="5" name="Content Placeholder 4">
            <a:extLst>
              <a:ext uri="{FF2B5EF4-FFF2-40B4-BE49-F238E27FC236}">
                <a16:creationId xmlns:a16="http://schemas.microsoft.com/office/drawing/2014/main" id="{C1AEA501-776B-2E4B-297E-4DEFFA6F4440}"/>
              </a:ext>
            </a:extLst>
          </p:cNvPr>
          <p:cNvSpPr>
            <a:spLocks noGrp="1"/>
          </p:cNvSpPr>
          <p:nvPr>
            <p:ph idx="1"/>
          </p:nvPr>
        </p:nvSpPr>
        <p:spPr/>
        <p:txBody>
          <a:bodyPr/>
          <a:lstStyle/>
          <a:p>
            <a:r>
              <a:rPr lang="en-US" dirty="0"/>
              <a:t>Ensemble Model Outperforms Neural Network The ensemble model delivered superior performance across key metrics, especially for the minority class (failure).</a:t>
            </a:r>
          </a:p>
          <a:p>
            <a:r>
              <a:rPr lang="en-US" dirty="0"/>
              <a:t>There was effective Failure Detection with Fewer Errors</a:t>
            </a:r>
          </a:p>
          <a:p>
            <a:r>
              <a:rPr lang="en-US" dirty="0"/>
              <a:t>Neural Network Struggles with Class Imbalance</a:t>
            </a:r>
          </a:p>
          <a:p>
            <a:endParaRPr lang="en-US" dirty="0"/>
          </a:p>
          <a:p>
            <a:endParaRPr lang="en-US" dirty="0"/>
          </a:p>
        </p:txBody>
      </p:sp>
    </p:spTree>
    <p:extLst>
      <p:ext uri="{BB962C8B-B14F-4D97-AF65-F5344CB8AC3E}">
        <p14:creationId xmlns:p14="http://schemas.microsoft.com/office/powerpoint/2010/main" val="3090673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FE991-B3CC-1AFE-F4EC-29113573127C}"/>
              </a:ext>
            </a:extLst>
          </p:cNvPr>
          <p:cNvSpPr>
            <a:spLocks noGrp="1"/>
          </p:cNvSpPr>
          <p:nvPr>
            <p:ph type="title"/>
          </p:nvPr>
        </p:nvSpPr>
        <p:spPr/>
        <p:txBody>
          <a:bodyPr/>
          <a:lstStyle/>
          <a:p>
            <a:r>
              <a:rPr lang="en-US" b="1" dirty="0"/>
              <a:t>RECOMMENDATIONS</a:t>
            </a:r>
          </a:p>
        </p:txBody>
      </p:sp>
      <p:sp>
        <p:nvSpPr>
          <p:cNvPr id="3" name="Content Placeholder 2">
            <a:extLst>
              <a:ext uri="{FF2B5EF4-FFF2-40B4-BE49-F238E27FC236}">
                <a16:creationId xmlns:a16="http://schemas.microsoft.com/office/drawing/2014/main" id="{5FEC5A34-1F20-D19F-F038-6743E7E9D698}"/>
              </a:ext>
            </a:extLst>
          </p:cNvPr>
          <p:cNvSpPr>
            <a:spLocks noGrp="1"/>
          </p:cNvSpPr>
          <p:nvPr>
            <p:ph idx="1"/>
          </p:nvPr>
        </p:nvSpPr>
        <p:spPr/>
        <p:txBody>
          <a:bodyPr/>
          <a:lstStyle/>
          <a:p>
            <a:r>
              <a:rPr lang="en-US" dirty="0"/>
              <a:t>Adopt the Ensemble Model for Deployment</a:t>
            </a:r>
          </a:p>
          <a:p>
            <a:r>
              <a:rPr lang="en-US" dirty="0"/>
              <a:t>Monitor for Model Drift</a:t>
            </a:r>
          </a:p>
          <a:p>
            <a:r>
              <a:rPr lang="en-US" dirty="0"/>
              <a:t>Implement Model Explainability</a:t>
            </a:r>
          </a:p>
        </p:txBody>
      </p:sp>
    </p:spTree>
    <p:extLst>
      <p:ext uri="{BB962C8B-B14F-4D97-AF65-F5344CB8AC3E}">
        <p14:creationId xmlns:p14="http://schemas.microsoft.com/office/powerpoint/2010/main" val="71015315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1232</TotalTime>
  <Words>721</Words>
  <Application>Microsoft Office PowerPoint</Application>
  <PresentationFormat>Widescreen</PresentationFormat>
  <Paragraphs>86</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Century Gothic</vt:lpstr>
      <vt:lpstr>Vapor Trail</vt:lpstr>
      <vt:lpstr>Predictive maintenance for machines</vt:lpstr>
      <vt:lpstr>Business Understanding</vt:lpstr>
      <vt:lpstr>GOALS</vt:lpstr>
      <vt:lpstr>WHY IT MATTERS</vt:lpstr>
      <vt:lpstr>DATA UNDERSTANDING</vt:lpstr>
      <vt:lpstr>DATA Preparation </vt:lpstr>
      <vt:lpstr>EXPLORATORY DATA ANALYSIS</vt:lpstr>
      <vt:lpstr>DISTRIBUTION OF ROTATION SPEED</vt:lpstr>
      <vt:lpstr>DISTRIBUTION OF THE TARGET</vt:lpstr>
      <vt:lpstr>MODELING</vt:lpstr>
      <vt:lpstr>EVALUATION</vt:lpstr>
      <vt:lpstr>ENSEMBLE MODEL CONFUSION MATRIX</vt:lpstr>
      <vt:lpstr>Feature importance graph</vt:lpstr>
      <vt:lpstr>CONCLUSION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Kenneth Nyangweso</dc:creator>
  <cp:lastModifiedBy>Kenneth Nyangweso</cp:lastModifiedBy>
  <cp:revision>2</cp:revision>
  <dcterms:created xsi:type="dcterms:W3CDTF">2025-06-03T15:38:08Z</dcterms:created>
  <dcterms:modified xsi:type="dcterms:W3CDTF">2025-06-04T12:10:23Z</dcterms:modified>
</cp:coreProperties>
</file>